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93" r:id="rId3"/>
    <p:sldId id="257" r:id="rId4"/>
    <p:sldId id="258" r:id="rId5"/>
    <p:sldId id="259" r:id="rId6"/>
    <p:sldId id="266" r:id="rId7"/>
    <p:sldId id="267" r:id="rId8"/>
    <p:sldId id="268" r:id="rId9"/>
    <p:sldId id="260" r:id="rId10"/>
    <p:sldId id="269" r:id="rId11"/>
    <p:sldId id="270" r:id="rId12"/>
    <p:sldId id="271" r:id="rId13"/>
    <p:sldId id="272" r:id="rId14"/>
    <p:sldId id="273" r:id="rId15"/>
    <p:sldId id="289" r:id="rId16"/>
    <p:sldId id="261" r:id="rId17"/>
    <p:sldId id="274" r:id="rId18"/>
    <p:sldId id="290" r:id="rId19"/>
    <p:sldId id="275" r:id="rId20"/>
    <p:sldId id="291" r:id="rId21"/>
    <p:sldId id="276" r:id="rId22"/>
    <p:sldId id="292" r:id="rId23"/>
    <p:sldId id="277" r:id="rId24"/>
    <p:sldId id="288" r:id="rId25"/>
    <p:sldId id="278" r:id="rId26"/>
    <p:sldId id="287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62" r:id="rId36"/>
    <p:sldId id="294" r:id="rId37"/>
    <p:sldId id="263" r:id="rId38"/>
    <p:sldId id="264" r:id="rId39"/>
    <p:sldId id="265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14A1FE-968D-6259-ACFC-76BD978865E9}" v="192" dt="2025-11-21T04:43:22.905"/>
    <p1510:client id="{5519C1E4-1643-4D97-9333-7397737C313A}" v="3" dt="2025-11-21T04:44:32.132"/>
    <p1510:client id="{CEB001F5-3FC1-B084-4967-11222276D9D9}" v="1711" dt="2025-11-21T17:46:49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86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20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6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22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95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9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528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15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117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68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803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15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24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44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21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08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315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TRyGntZvh-4" TargetMode="External"/><Relationship Id="rId2" Type="http://schemas.openxmlformats.org/officeDocument/2006/relationships/hyperlink" Target="https://github.com/KgomoTokelo/PROG6212POE-PART-3-ContractMonthlyClaimsSystem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ClaimSystem</a:t>
            </a:r>
            <a:r>
              <a:rPr lang="en-US" dirty="0">
                <a:ea typeface="+mj-lt"/>
                <a:cs typeface="+mj-lt"/>
              </a:rPr>
              <a:t>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AE2B5-D012-3EAE-5111-9F1B77EEF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4753264"/>
            <a:ext cx="8825658" cy="17117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ClaimSystem Web Application</a:t>
            </a:r>
          </a:p>
          <a:p>
            <a:endParaRPr lang="en-US" sz="440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C10C92-1AB1-9A19-6B89-E5AACF1F6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r="-1" b="5704"/>
          <a:stretch>
            <a:fillRect/>
          </a:stretch>
        </p:blipFill>
        <p:spPr>
          <a:xfrm>
            <a:off x="1150938" y="230037"/>
            <a:ext cx="8831262" cy="4267831"/>
          </a:xfrm>
          <a:prstGeom prst="rect">
            <a:avLst/>
          </a:prstGeom>
          <a:effectLst>
            <a:outerShdw blurRad="50800" dist="50800" dir="5400000" algn="tl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9427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38C3E-23D2-9BB8-3195-7DB485AD4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What is </a:t>
            </a:r>
            <a:r>
              <a:rPr lang="en-US" dirty="0" err="1">
                <a:ea typeface="+mj-lt"/>
                <a:cs typeface="+mj-lt"/>
              </a:rPr>
              <a:t>ClaimSystem</a:t>
            </a:r>
            <a:r>
              <a:rPr lang="en-US" dirty="0">
                <a:ea typeface="+mj-lt"/>
                <a:cs typeface="+mj-lt"/>
              </a:rPr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3ADD6-BA86-FD4C-A91F-D13333115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 web application for managing lecturer and employee claims.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Streamlines claim submission, approval, and tracking.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Built with ASP.NET Core MVC, Entity Framework, and SQL Server.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Visual</a:t>
            </a:r>
            <a:endParaRPr lang="en-US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19505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A234-E32A-1BF6-DF3D-364260D74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Key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D7C09-DC26-8D3C-D549-F75391CCC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User authentication &amp; role management (HR, Lecturers, Admin)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Submit and manage claims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Dashboard for HR to monitor claims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Secure database management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34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FCC24-688F-C4B9-EEFA-284F7C65B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Explanation: </a:t>
            </a:r>
            <a:r>
              <a:rPr lang="en-US" dirty="0">
                <a:ea typeface="+mj-lt"/>
                <a:cs typeface="+mj-lt"/>
              </a:rPr>
              <a:t>HR Summary</a:t>
            </a:r>
            <a:endParaRPr lang="en-US" dirty="0"/>
          </a:p>
        </p:txBody>
      </p:sp>
      <p:pic>
        <p:nvPicPr>
          <p:cNvPr id="7" name="Content Placeholder 6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FFF705DC-4D49-A57F-EF89-55410F3CF5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3313" y="2922141"/>
            <a:ext cx="4395787" cy="247263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2D980BF-588C-D063-2F66-0670D7AF1A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 dirty="0">
                <a:ea typeface="+mn-lt"/>
                <a:cs typeface="+mn-lt"/>
              </a:rPr>
              <a:t>Purpose: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This method generates a </a:t>
            </a:r>
            <a:r>
              <a:rPr lang="en-US" sz="1600" b="1" dirty="0">
                <a:ea typeface="+mn-lt"/>
                <a:cs typeface="+mn-lt"/>
              </a:rPr>
              <a:t>summary of claims</a:t>
            </a:r>
            <a:r>
              <a:rPr lang="en-US" sz="1600" dirty="0">
                <a:ea typeface="+mn-lt"/>
                <a:cs typeface="+mn-lt"/>
              </a:rPr>
              <a:t> for HR users.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Only accessible by users in the </a:t>
            </a:r>
            <a:r>
              <a:rPr lang="en-US" sz="1600" b="1" err="1">
                <a:ea typeface="+mn-lt"/>
                <a:cs typeface="+mn-lt"/>
              </a:rPr>
              <a:t>HumanResource</a:t>
            </a:r>
            <a:r>
              <a:rPr lang="en-US" sz="1600" dirty="0">
                <a:ea typeface="+mn-lt"/>
                <a:cs typeface="+mn-lt"/>
              </a:rPr>
              <a:t> role (</a:t>
            </a:r>
            <a:r>
              <a:rPr lang="en-US" sz="1600" dirty="0">
                <a:latin typeface="Consolas"/>
              </a:rPr>
              <a:t>[Authorize(Roles = "</a:t>
            </a:r>
            <a:r>
              <a:rPr lang="en-US" sz="1600" err="1">
                <a:latin typeface="Consolas"/>
              </a:rPr>
              <a:t>HumanResource</a:t>
            </a:r>
            <a:r>
              <a:rPr lang="en-US" sz="1600" dirty="0">
                <a:latin typeface="Consolas"/>
              </a:rPr>
              <a:t>")]</a:t>
            </a:r>
            <a:r>
              <a:rPr lang="en-US" sz="1600" dirty="0">
                <a:ea typeface="+mn-lt"/>
                <a:cs typeface="+mn-lt"/>
              </a:rPr>
              <a:t>)</a:t>
            </a:r>
            <a:endParaRPr lang="en-US" sz="16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637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0471-335B-00B5-3947-984F91FDB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 Summary:</a:t>
            </a:r>
            <a:r>
              <a:rPr lang="en-US" dirty="0">
                <a:ea typeface="+mj-lt"/>
                <a:cs typeface="+mj-lt"/>
              </a:rPr>
              <a:t> Step-by-Step Breakdown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8CA49-ED82-1F47-E6A3-2C02CB5C1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1.Fetch all claims from the database:</a:t>
            </a:r>
            <a:endParaRPr lang="en-US" dirty="0"/>
          </a:p>
          <a:p>
            <a:r>
              <a:rPr lang="en-US" dirty="0">
                <a:latin typeface="Consolas"/>
              </a:rPr>
              <a:t>var claims = await _</a:t>
            </a:r>
            <a:r>
              <a:rPr lang="en-US" dirty="0" err="1">
                <a:latin typeface="Consolas"/>
              </a:rPr>
              <a:t>context.Claims.ToListAsync</a:t>
            </a:r>
            <a:r>
              <a:rPr lang="en-US" dirty="0">
                <a:latin typeface="Consolas"/>
              </a:rPr>
              <a:t>();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Retrieves all claim records simultaneously</a:t>
            </a:r>
            <a:r>
              <a:rPr lang="en-US" dirty="0">
                <a:solidFill>
                  <a:srgbClr val="000000"/>
                </a:solidFill>
                <a:latin typeface="Aptos"/>
                <a:ea typeface="+mn-lt"/>
                <a:cs typeface="Arial"/>
              </a:rPr>
              <a:t> </a:t>
            </a:r>
            <a:r>
              <a:rPr lang="en-US" dirty="0">
                <a:ea typeface="+mn-lt"/>
                <a:cs typeface="+mn-lt"/>
              </a:rPr>
              <a:t>from the database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2.Count total claims:</a:t>
            </a:r>
            <a:endParaRPr lang="en-US" dirty="0"/>
          </a:p>
          <a:p>
            <a:pPr marL="685800" indent="-457200"/>
            <a:r>
              <a:rPr lang="en-US" dirty="0">
                <a:latin typeface="Consolas"/>
              </a:rPr>
              <a:t>var </a:t>
            </a:r>
            <a:r>
              <a:rPr lang="en-US" dirty="0" err="1">
                <a:latin typeface="Consolas"/>
              </a:rPr>
              <a:t>totalCount</a:t>
            </a:r>
            <a:r>
              <a:rPr lang="en-US" dirty="0">
                <a:latin typeface="Consolas"/>
              </a:rPr>
              <a:t> = </a:t>
            </a:r>
            <a:r>
              <a:rPr lang="en-US" dirty="0" err="1">
                <a:latin typeface="Consolas"/>
              </a:rPr>
              <a:t>claims.Count</a:t>
            </a:r>
            <a:r>
              <a:rPr lang="en-US" dirty="0">
                <a:latin typeface="Consolas"/>
              </a:rPr>
              <a:t>;</a:t>
            </a:r>
            <a:endParaRPr lang="en-US" dirty="0">
              <a:latin typeface="Consolas"/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latin typeface="Aptos"/>
              </a:rPr>
              <a:t>Calculates the total number of claims.</a:t>
            </a:r>
          </a:p>
          <a:p>
            <a:pPr indent="0">
              <a:buNone/>
            </a:pPr>
            <a:endParaRPr lang="en-US" dirty="0">
              <a:latin typeface="Consolas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845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67229-C3D9-9385-4CE0-7EE86C42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 Summary: Step-by-Step Breakdown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EE6AE-17F6-6343-28B1-343D441D0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2600" b="1" dirty="0"/>
              <a:t>3.Calculate total monetary amount:</a:t>
            </a:r>
            <a:endParaRPr lang="en-US" sz="2600" dirty="0"/>
          </a:p>
          <a:p>
            <a:pPr marL="685800" indent="-457200"/>
            <a:r>
              <a:rPr lang="en-US" sz="2600" dirty="0">
                <a:latin typeface="Consolas"/>
              </a:rPr>
              <a:t>var </a:t>
            </a:r>
            <a:r>
              <a:rPr lang="en-US" sz="2600" dirty="0" err="1">
                <a:latin typeface="Consolas"/>
              </a:rPr>
              <a:t>totalAmount</a:t>
            </a:r>
            <a:r>
              <a:rPr lang="en-US" sz="2600" dirty="0">
                <a:latin typeface="Consolas"/>
              </a:rPr>
              <a:t> = </a:t>
            </a:r>
            <a:r>
              <a:rPr lang="en-US" sz="2600" dirty="0" err="1">
                <a:latin typeface="Consolas"/>
              </a:rPr>
              <a:t>claims.Sum</a:t>
            </a:r>
            <a:r>
              <a:rPr lang="en-US" sz="2600" dirty="0">
                <a:latin typeface="Consolas"/>
              </a:rPr>
              <a:t>(c =&gt; </a:t>
            </a:r>
            <a:r>
              <a:rPr lang="en-US" sz="2600" dirty="0" err="1">
                <a:latin typeface="Consolas"/>
              </a:rPr>
              <a:t>c.HoursWorked</a:t>
            </a:r>
            <a:r>
              <a:rPr lang="en-US" sz="2600" dirty="0">
                <a:latin typeface="Consolas"/>
              </a:rPr>
              <a:t> * c.HourlyRate);</a:t>
            </a:r>
          </a:p>
          <a:p>
            <a:pPr>
              <a:buFont typeface="Arial,Sans-Serif" panose="020B0604020202020204" pitchFamily="34" charset="0"/>
            </a:pPr>
            <a:r>
              <a:rPr lang="en-US" sz="2600" dirty="0"/>
              <a:t>Sums up all claims using the formula  </a:t>
            </a:r>
            <a:r>
              <a:rPr lang="en-US" sz="2600" b="1" dirty="0"/>
              <a:t>hours worked × hourly rate</a:t>
            </a:r>
            <a:r>
              <a:rPr lang="en-US" sz="2600" dirty="0"/>
              <a:t>.</a:t>
            </a:r>
            <a:endParaRPr lang="en-US" dirty="0"/>
          </a:p>
          <a:p>
            <a:pPr marL="0" indent="0">
              <a:buNone/>
            </a:pPr>
            <a:r>
              <a:rPr lang="en-US" sz="2600" b="1" dirty="0">
                <a:ea typeface="+mn-lt"/>
                <a:cs typeface="+mn-lt"/>
              </a:rPr>
              <a:t>4.Count claims by status:</a:t>
            </a:r>
            <a:endParaRPr lang="en-US" sz="2600" dirty="0">
              <a:ea typeface="+mn-lt"/>
              <a:cs typeface="+mn-lt"/>
            </a:endParaRPr>
          </a:p>
          <a:p>
            <a:r>
              <a:rPr lang="en-US" sz="2600" dirty="0">
                <a:latin typeface="Consolas"/>
              </a:rPr>
              <a:t>var </a:t>
            </a:r>
            <a:r>
              <a:rPr lang="en-US" sz="2600" dirty="0" err="1">
                <a:latin typeface="Consolas"/>
              </a:rPr>
              <a:t>submittedCount</a:t>
            </a:r>
            <a:r>
              <a:rPr lang="en-US" sz="2600" dirty="0">
                <a:latin typeface="Consolas"/>
              </a:rPr>
              <a:t> = </a:t>
            </a:r>
            <a:r>
              <a:rPr lang="en-US" sz="2600" dirty="0" err="1">
                <a:latin typeface="Consolas"/>
              </a:rPr>
              <a:t>claims.Count</a:t>
            </a:r>
            <a:r>
              <a:rPr lang="en-US" sz="2600" dirty="0">
                <a:latin typeface="Consolas"/>
              </a:rPr>
              <a:t>(c =&gt; </a:t>
            </a:r>
            <a:r>
              <a:rPr lang="en-US" sz="2600" dirty="0" err="1">
                <a:latin typeface="Consolas"/>
              </a:rPr>
              <a:t>c.Status</a:t>
            </a:r>
            <a:r>
              <a:rPr lang="en-US" sz="2600" dirty="0">
                <a:latin typeface="Consolas"/>
              </a:rPr>
              <a:t> == </a:t>
            </a:r>
            <a:r>
              <a:rPr lang="en-US" sz="2600" dirty="0" err="1">
                <a:latin typeface="Consolas"/>
              </a:rPr>
              <a:t>Claims.status.Submitted</a:t>
            </a:r>
            <a:r>
              <a:rPr lang="en-US" sz="2600" dirty="0">
                <a:latin typeface="Consolas"/>
              </a:rPr>
              <a:t>);
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600">
                <a:ea typeface="+mn-lt"/>
                <a:cs typeface="+mn-lt"/>
              </a:rPr>
              <a:t>Repeats</a:t>
            </a:r>
            <a:r>
              <a:rPr lang="en-US" sz="2600" dirty="0">
                <a:ea typeface="+mn-lt"/>
                <a:cs typeface="+mn-lt"/>
              </a:rPr>
              <a:t> for </a:t>
            </a:r>
            <a:r>
              <a:rPr lang="en-US" sz="2600" dirty="0">
                <a:latin typeface="Consolas"/>
              </a:rPr>
              <a:t>Verified</a:t>
            </a:r>
            <a:r>
              <a:rPr lang="en-US" sz="2600" dirty="0">
                <a:ea typeface="+mn-lt"/>
                <a:cs typeface="+mn-lt"/>
              </a:rPr>
              <a:t>, </a:t>
            </a:r>
            <a:r>
              <a:rPr lang="en-US" sz="2600" dirty="0">
                <a:latin typeface="Consolas"/>
              </a:rPr>
              <a:t>Approved</a:t>
            </a:r>
            <a:r>
              <a:rPr lang="en-US" sz="2600" dirty="0">
                <a:ea typeface="+mn-lt"/>
                <a:cs typeface="+mn-lt"/>
              </a:rPr>
              <a:t>, </a:t>
            </a:r>
            <a:r>
              <a:rPr lang="en-US" sz="2600" dirty="0">
                <a:latin typeface="Consolas"/>
              </a:rPr>
              <a:t>Rejected</a:t>
            </a:r>
            <a:r>
              <a:rPr lang="en-US" sz="2600" dirty="0">
                <a:ea typeface="+mn-lt"/>
                <a:cs typeface="+mn-lt"/>
              </a:rPr>
              <a:t>, </a:t>
            </a:r>
            <a:r>
              <a:rPr lang="en-US" sz="2600" dirty="0">
                <a:latin typeface="Consolas"/>
              </a:rPr>
              <a:t>Declined</a:t>
            </a:r>
            <a:r>
              <a:rPr lang="en-US" sz="2600" dirty="0">
                <a:ea typeface="+mn-lt"/>
                <a:cs typeface="+mn-lt"/>
              </a:rPr>
              <a:t>, </a:t>
            </a:r>
            <a:r>
              <a:rPr lang="en-US" sz="2600" dirty="0">
                <a:latin typeface="Consolas"/>
              </a:rPr>
              <a:t>Settled</a:t>
            </a:r>
            <a:r>
              <a:rPr lang="en-US" sz="2600" dirty="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600">
                <a:ea typeface="+mn-lt"/>
                <a:cs typeface="+mn-lt"/>
              </a:rPr>
              <a:t>Provides HR with a </a:t>
            </a:r>
            <a:r>
              <a:rPr lang="en-US" sz="2600" b="1">
                <a:ea typeface="+mn-lt"/>
                <a:cs typeface="+mn-lt"/>
              </a:rPr>
              <a:t>status breakdown</a:t>
            </a:r>
            <a:r>
              <a:rPr lang="en-US" sz="26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>
              <a:buFont typeface="Arial,Sans-Serif" panose="020B0604020202020204" pitchFamily="34" charset="0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810075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DCA7-A332-A2C9-03CE-E1AD6DC0E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 Summary: Step-by-Step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3CBF9-F18A-3215-BD31-92B424755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5.Store results for the View:</a:t>
            </a:r>
            <a:endParaRPr lang="en-US" dirty="0"/>
          </a:p>
          <a:p>
            <a:r>
              <a:rPr lang="en-US" dirty="0">
                <a:latin typeface="Consolas"/>
              </a:rPr>
              <a:t>ViewBag.TotalCount = totalCount;
</a:t>
            </a:r>
            <a:r>
              <a:rPr lang="en-US" dirty="0" err="1">
                <a:latin typeface="Consolas"/>
              </a:rPr>
              <a:t>ViewBag.TotalAmount</a:t>
            </a:r>
            <a:r>
              <a:rPr lang="en-US" dirty="0">
                <a:latin typeface="Consolas"/>
              </a:rPr>
              <a:t> = </a:t>
            </a:r>
            <a:r>
              <a:rPr lang="en-US" dirty="0" err="1">
                <a:latin typeface="Consolas"/>
              </a:rPr>
              <a:t>totalAmount</a:t>
            </a:r>
            <a:r>
              <a:rPr lang="en-US" dirty="0">
                <a:latin typeface="Consolas"/>
              </a:rPr>
              <a:t>;
...
</a:t>
            </a:r>
            <a:r>
              <a:rPr lang="en-US" dirty="0">
                <a:ea typeface="+mn-lt"/>
                <a:cs typeface="+mn-lt"/>
              </a:rPr>
              <a:t>Uses </a:t>
            </a:r>
            <a:r>
              <a:rPr lang="en-US" dirty="0" err="1">
                <a:latin typeface="Consolas"/>
              </a:rPr>
              <a:t>ViewBag</a:t>
            </a:r>
            <a:r>
              <a:rPr lang="en-US" dirty="0">
                <a:ea typeface="+mn-lt"/>
                <a:cs typeface="+mn-lt"/>
              </a:rPr>
              <a:t> to </a:t>
            </a:r>
            <a:r>
              <a:rPr lang="en-US" b="1" dirty="0">
                <a:ea typeface="+mn-lt"/>
                <a:cs typeface="+mn-lt"/>
              </a:rPr>
              <a:t>pass data to the Razor view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6.Return the HR summary view:</a:t>
            </a:r>
            <a:endParaRPr lang="en-US" dirty="0"/>
          </a:p>
          <a:p>
            <a:r>
              <a:rPr lang="en-US" dirty="0">
                <a:latin typeface="Consolas"/>
              </a:rPr>
              <a:t>return View("~/Views/</a:t>
            </a:r>
            <a:r>
              <a:rPr lang="en-US" dirty="0" err="1">
                <a:latin typeface="Consolas"/>
              </a:rPr>
              <a:t>HumanResource</a:t>
            </a:r>
            <a:r>
              <a:rPr lang="en-US" dirty="0">
                <a:latin typeface="Consolas"/>
              </a:rPr>
              <a:t>/</a:t>
            </a:r>
            <a:r>
              <a:rPr lang="en-US" dirty="0" err="1">
                <a:latin typeface="Consolas"/>
              </a:rPr>
              <a:t>HrSummary.cshtml</a:t>
            </a:r>
            <a:r>
              <a:rPr lang="en-US" dirty="0">
                <a:latin typeface="Consolas"/>
              </a:rPr>
              <a:t>");
</a:t>
            </a:r>
            <a:r>
              <a:rPr lang="en-US" dirty="0">
                <a:ea typeface="+mn-lt"/>
                <a:cs typeface="+mn-lt"/>
              </a:rPr>
              <a:t>Displays the summary on the </a:t>
            </a:r>
            <a:r>
              <a:rPr lang="en-US" b="1" dirty="0">
                <a:ea typeface="+mn-lt"/>
                <a:cs typeface="+mn-lt"/>
              </a:rPr>
              <a:t>HR dashboard page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130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7226-8BCC-CA20-1D5F-674143F13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Explanation: Claim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EB3AA-5238-83F6-4795-9D0A3FFB43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Purpose:</a:t>
            </a:r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This method is to load and display all claims that belong to the currently logged-in lecturer.</a:t>
            </a:r>
          </a:p>
          <a:p>
            <a:pPr marL="0" indent="0">
              <a:buClr>
                <a:srgbClr val="8AD0D6"/>
              </a:buClr>
              <a:buNone/>
            </a:pPr>
            <a:r>
              <a:rPr lang="en-US" dirty="0">
                <a:ea typeface="+mj-lt"/>
                <a:cs typeface="+mj-lt"/>
              </a:rPr>
              <a:t> </a:t>
            </a:r>
            <a:endParaRPr lang="en-US" dirty="0"/>
          </a:p>
        </p:txBody>
      </p:sp>
      <p:pic>
        <p:nvPicPr>
          <p:cNvPr id="8" name="Content Placeholder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1C34F6E-7D74-19F6-AD84-46AFEBD65A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15004" y="2060575"/>
            <a:ext cx="3572954" cy="419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42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C367B-61A1-7227-2D06-353055AC8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Claim: Step-by-Step Breakdown</a:t>
            </a:r>
            <a:endParaRPr lang="en-GB" dirty="0">
              <a:solidFill>
                <a:srgbClr val="000000"/>
              </a:solidFill>
            </a:endParaRPr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5164B-B3C7-9235-DA7F-E9C5EAC8C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 </a:t>
            </a:r>
            <a:r>
              <a:rPr lang="en-GB" dirty="0">
                <a:ea typeface="+mj-lt"/>
                <a:cs typeface="+mj-lt"/>
              </a:rPr>
              <a:t>1. Get Identity user ID from the current request:</a:t>
            </a:r>
            <a:endParaRPr lang="en-US"/>
          </a:p>
          <a:p>
            <a:r>
              <a:rPr lang="en-GB" dirty="0">
                <a:ea typeface="+mj-lt"/>
                <a:cs typeface="+mj-lt"/>
              </a:rPr>
              <a:t>var </a:t>
            </a:r>
            <a:r>
              <a:rPr lang="en-GB" dirty="0" err="1">
                <a:ea typeface="+mj-lt"/>
                <a:cs typeface="+mj-lt"/>
              </a:rPr>
              <a:t>identityUserId</a:t>
            </a:r>
            <a:r>
              <a:rPr lang="en-GB" dirty="0">
                <a:ea typeface="+mj-lt"/>
                <a:cs typeface="+mj-lt"/>
              </a:rPr>
              <a:t> = </a:t>
            </a:r>
            <a:r>
              <a:rPr lang="en-GB" dirty="0" err="1">
                <a:ea typeface="+mj-lt"/>
                <a:cs typeface="+mj-lt"/>
              </a:rPr>
              <a:t>User.FindFirstValue</a:t>
            </a:r>
            <a:r>
              <a:rPr lang="en-GB" dirty="0">
                <a:ea typeface="+mj-lt"/>
                <a:cs typeface="+mj-lt"/>
              </a:rPr>
              <a:t>(</a:t>
            </a:r>
            <a:r>
              <a:rPr lang="en-GB" dirty="0" err="1">
                <a:ea typeface="+mj-lt"/>
                <a:cs typeface="+mj-lt"/>
              </a:rPr>
              <a:t>ClaimTypes.NameIdentifier</a:t>
            </a:r>
            <a:r>
              <a:rPr lang="en-GB" dirty="0">
                <a:ea typeface="+mj-lt"/>
                <a:cs typeface="+mj-lt"/>
              </a:rPr>
              <a:t>);</a:t>
            </a:r>
            <a:endParaRPr lang="en-GB" dirty="0"/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Retrieves the Identity User ID of the currently logged-in user</a:t>
            </a:r>
            <a:endParaRPr lang="en-GB"/>
          </a:p>
          <a:p>
            <a:pPr>
              <a:buClr>
                <a:srgbClr val="8AD0D6"/>
              </a:buClr>
            </a:pPr>
            <a:endParaRPr lang="en-GB" dirty="0"/>
          </a:p>
          <a:p>
            <a:pPr>
              <a:buClr>
                <a:srgbClr val="8AD0D6"/>
              </a:buClr>
            </a:pPr>
            <a:r>
              <a:rPr lang="en-GB" dirty="0"/>
              <a:t>2. Validation check for identity user ID</a:t>
            </a:r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if (</a:t>
            </a:r>
            <a:r>
              <a:rPr lang="en-GB" dirty="0" err="1">
                <a:ea typeface="+mj-lt"/>
                <a:cs typeface="+mj-lt"/>
              </a:rPr>
              <a:t>string.IsNullOrEmpty</a:t>
            </a:r>
            <a:r>
              <a:rPr lang="en-GB" dirty="0">
                <a:ea typeface="+mj-lt"/>
                <a:cs typeface="+mj-lt"/>
              </a:rPr>
              <a:t>(</a:t>
            </a:r>
            <a:r>
              <a:rPr lang="en-GB" dirty="0" err="1">
                <a:ea typeface="+mj-lt"/>
                <a:cs typeface="+mj-lt"/>
              </a:rPr>
              <a:t>identityUserId</a:t>
            </a:r>
            <a:r>
              <a:rPr lang="en-GB" dirty="0">
                <a:ea typeface="+mj-lt"/>
                <a:cs typeface="+mj-lt"/>
              </a:rPr>
              <a:t>)){</a:t>
            </a:r>
            <a:r>
              <a:rPr lang="en-GB" dirty="0" err="1">
                <a:ea typeface="+mj-lt"/>
                <a:cs typeface="+mj-lt"/>
              </a:rPr>
              <a:t>ViewBag.ErrorMessage</a:t>
            </a:r>
            <a:r>
              <a:rPr lang="en-GB" dirty="0">
                <a:ea typeface="+mj-lt"/>
                <a:cs typeface="+mj-lt"/>
              </a:rPr>
              <a:t> = "User not logged in.";</a:t>
            </a:r>
            <a:r>
              <a:rPr lang="en-GB" dirty="0" err="1">
                <a:ea typeface="+mj-lt"/>
                <a:cs typeface="+mj-lt"/>
              </a:rPr>
              <a:t>eturn</a:t>
            </a:r>
            <a:r>
              <a:rPr lang="en-GB" dirty="0">
                <a:ea typeface="+mj-lt"/>
                <a:cs typeface="+mj-lt"/>
              </a:rPr>
              <a:t> View("Error");}</a:t>
            </a:r>
            <a:endParaRPr lang="en-GB" dirty="0"/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This is a validation check that checks whether </a:t>
            </a:r>
            <a:r>
              <a:rPr lang="en-GB" dirty="0" err="1">
                <a:latin typeface="Consolas"/>
              </a:rPr>
              <a:t>identityUserId</a:t>
            </a:r>
            <a:r>
              <a:rPr lang="en-GB" dirty="0">
                <a:ea typeface="+mj-lt"/>
                <a:cs typeface="+mj-lt"/>
              </a:rPr>
              <a:t> is null</a:t>
            </a:r>
            <a:r>
              <a:rPr lang="en-GB" b="1" dirty="0">
                <a:ea typeface="+mj-lt"/>
                <a:cs typeface="+mj-lt"/>
              </a:rPr>
              <a:t> </a:t>
            </a:r>
            <a:r>
              <a:rPr lang="en-GB" dirty="0">
                <a:ea typeface="+mj-lt"/>
                <a:cs typeface="+mj-lt"/>
              </a:rPr>
              <a:t>or a empty string ("")</a:t>
            </a:r>
            <a:endParaRPr lang="en-GB" dirty="0"/>
          </a:p>
          <a:p>
            <a:pPr>
              <a:buClr>
                <a:srgbClr val="8AD0D6"/>
              </a:buClr>
            </a:pPr>
            <a:endParaRPr lang="en-GB" dirty="0"/>
          </a:p>
          <a:p>
            <a:pPr>
              <a:buClr>
                <a:srgbClr val="8AD0D6"/>
              </a:buClr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4106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3CE7-9001-FBDA-C191-A3ACFA843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Claim: Step-by-Step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78C23-C113-DDF9-A311-2F8B9C20C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3. Fetches User data from the database:</a:t>
            </a:r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var user = await _</a:t>
            </a:r>
            <a:r>
              <a:rPr lang="en-US" dirty="0" err="1">
                <a:ea typeface="+mj-lt"/>
                <a:cs typeface="+mj-lt"/>
              </a:rPr>
              <a:t>context.Users.FirstOrDefaultAsync</a:t>
            </a:r>
            <a:r>
              <a:rPr lang="en-US" dirty="0">
                <a:ea typeface="+mj-lt"/>
                <a:cs typeface="+mj-lt"/>
              </a:rPr>
              <a:t>(u =&gt; </a:t>
            </a:r>
            <a:r>
              <a:rPr lang="en-US" dirty="0" err="1">
                <a:ea typeface="+mj-lt"/>
                <a:cs typeface="+mj-lt"/>
              </a:rPr>
              <a:t>u.IdentityUserId</a:t>
            </a:r>
            <a:r>
              <a:rPr lang="en-US" dirty="0">
                <a:ea typeface="+mj-lt"/>
                <a:cs typeface="+mj-lt"/>
              </a:rPr>
              <a:t> == </a:t>
            </a:r>
            <a:r>
              <a:rPr lang="en-US" dirty="0" err="1">
                <a:ea typeface="+mj-lt"/>
                <a:cs typeface="+mj-lt"/>
              </a:rPr>
              <a:t>identityUserId</a:t>
            </a:r>
            <a:r>
              <a:rPr lang="en-US" dirty="0">
                <a:ea typeface="+mj-lt"/>
                <a:cs typeface="+mj-lt"/>
              </a:rPr>
              <a:t>);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Retrieves data from database that corresponds with the identityuserid.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/>
              <a:t>4.  Validation check for User</a:t>
            </a:r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if (user == null){</a:t>
            </a:r>
            <a:r>
              <a:rPr lang="en-US" dirty="0" err="1">
                <a:ea typeface="+mj-lt"/>
                <a:cs typeface="+mj-lt"/>
              </a:rPr>
              <a:t>ViewBag.ErrorMessage</a:t>
            </a:r>
            <a:r>
              <a:rPr lang="en-US" dirty="0">
                <a:ea typeface="+mj-lt"/>
                <a:cs typeface="+mj-lt"/>
              </a:rPr>
              <a:t> = "User profile not found.";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     return View("Error");}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A validation that checks if user exist.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940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6978E-2E5E-7B47-A909-FA0FB55FE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Claim: Step-by-Step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1E2B0-2203-9E63-B214-7BC2E020F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5. </a:t>
            </a:r>
            <a:r>
              <a:rPr lang="en-US" dirty="0"/>
              <a:t>Fetches Corresponding User data from the lecturer:</a:t>
            </a:r>
            <a:endParaRPr lang="en-GB" dirty="0"/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var lecturer = await _</a:t>
            </a:r>
            <a:r>
              <a:rPr lang="en-GB" dirty="0" err="1">
                <a:ea typeface="+mj-lt"/>
                <a:cs typeface="+mj-lt"/>
              </a:rPr>
              <a:t>context.Lecturers.FirstOrDefaultAsync</a:t>
            </a:r>
            <a:r>
              <a:rPr lang="en-GB" dirty="0">
                <a:ea typeface="+mj-lt"/>
                <a:cs typeface="+mj-lt"/>
              </a:rPr>
              <a:t>(l =&gt; </a:t>
            </a:r>
            <a:r>
              <a:rPr lang="en-GB" dirty="0" err="1">
                <a:ea typeface="+mj-lt"/>
                <a:cs typeface="+mj-lt"/>
              </a:rPr>
              <a:t>l.UsersId</a:t>
            </a:r>
            <a:r>
              <a:rPr lang="en-GB" dirty="0">
                <a:ea typeface="+mj-lt"/>
                <a:cs typeface="+mj-lt"/>
              </a:rPr>
              <a:t> == </a:t>
            </a:r>
            <a:r>
              <a:rPr lang="en-GB" dirty="0" err="1">
                <a:ea typeface="+mj-lt"/>
                <a:cs typeface="+mj-lt"/>
              </a:rPr>
              <a:t>user.Id</a:t>
            </a:r>
            <a:r>
              <a:rPr lang="en-GB" dirty="0">
                <a:ea typeface="+mj-lt"/>
                <a:cs typeface="+mj-lt"/>
              </a:rPr>
              <a:t>);</a:t>
            </a:r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Retrieves the </a:t>
            </a:r>
            <a:r>
              <a:rPr lang="en-GB" dirty="0" err="1">
                <a:ea typeface="+mj-lt"/>
                <a:cs typeface="+mj-lt"/>
              </a:rPr>
              <a:t>lecturerId</a:t>
            </a:r>
            <a:r>
              <a:rPr lang="en-GB" dirty="0">
                <a:ea typeface="+mj-lt"/>
                <a:cs typeface="+mj-lt"/>
              </a:rPr>
              <a:t> that matches </a:t>
            </a:r>
            <a:r>
              <a:rPr lang="en-GB" dirty="0">
                <a:latin typeface="Century Gothic"/>
                <a:ea typeface="+mj-lt"/>
                <a:cs typeface="+mj-lt"/>
              </a:rPr>
              <a:t>with </a:t>
            </a:r>
            <a:r>
              <a:rPr lang="en-GB" dirty="0" err="1">
                <a:latin typeface="Century Gothic"/>
                <a:ea typeface="+mj-lt"/>
                <a:cs typeface="+mj-lt"/>
              </a:rPr>
              <a:t>UsersId</a:t>
            </a:r>
            <a:r>
              <a:rPr lang="en-GB" dirty="0">
                <a:ea typeface="+mj-lt"/>
                <a:cs typeface="+mj-lt"/>
              </a:rPr>
              <a:t> from current logged-in user userID.</a:t>
            </a:r>
          </a:p>
          <a:p>
            <a:pPr>
              <a:buClr>
                <a:srgbClr val="8AD0D6"/>
              </a:buClr>
            </a:pPr>
            <a:endParaRPr lang="en-GB" dirty="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6. </a:t>
            </a:r>
            <a:r>
              <a:rPr lang="en-US" dirty="0">
                <a:ea typeface="+mj-lt"/>
                <a:cs typeface="+mj-lt"/>
              </a:rPr>
              <a:t>Validation check for Lecturer</a:t>
            </a:r>
          </a:p>
          <a:p>
            <a:pPr>
              <a:lnSpc>
                <a:spcPct val="8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if (lecturer == null){</a:t>
            </a:r>
            <a:r>
              <a:rPr lang="en-GB" dirty="0" err="1">
                <a:ea typeface="+mj-lt"/>
                <a:cs typeface="+mj-lt"/>
              </a:rPr>
              <a:t>ViewBag.ErrorMessage</a:t>
            </a:r>
            <a:r>
              <a:rPr lang="en-GB" dirty="0">
                <a:ea typeface="+mj-lt"/>
                <a:cs typeface="+mj-lt"/>
              </a:rPr>
              <a:t> = "Lecturer profile not found.";</a:t>
            </a:r>
          </a:p>
          <a:p>
            <a:pPr>
              <a:lnSpc>
                <a:spcPct val="8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return View("Error");}</a:t>
            </a:r>
          </a:p>
          <a:p>
            <a:pPr>
              <a:buClr>
                <a:srgbClr val="8AD0D6"/>
              </a:buClr>
            </a:pPr>
            <a:r>
              <a:rPr lang="en-US" dirty="0"/>
              <a:t>A validation that checks if lecturer exist.</a:t>
            </a:r>
          </a:p>
          <a:p>
            <a:pPr>
              <a:lnSpc>
                <a:spcPct val="80000"/>
              </a:lnSpc>
              <a:buClr>
                <a:srgbClr val="8AD0D6"/>
              </a:buClr>
            </a:pPr>
            <a:endParaRPr lang="en-GB" dirty="0"/>
          </a:p>
          <a:p>
            <a:pPr>
              <a:lnSpc>
                <a:spcPct val="80000"/>
              </a:lnSpc>
              <a:buClr>
                <a:srgbClr val="8AD0D6"/>
              </a:buClr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1587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C8B8E-6781-3A19-D698-AA20BE0C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Claim: Step-by-Step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70852-3DC1-8A4F-B2B7-831A9EEDF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7. </a:t>
            </a:r>
            <a:r>
              <a:rPr lang="en-GB" dirty="0">
                <a:ea typeface="+mj-lt"/>
                <a:cs typeface="+mj-lt"/>
              </a:rPr>
              <a:t>Fetch claims for this lecturer:</a:t>
            </a:r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var claims = await _</a:t>
            </a:r>
            <a:r>
              <a:rPr lang="en-GB" dirty="0" err="1">
                <a:ea typeface="+mj-lt"/>
                <a:cs typeface="+mj-lt"/>
              </a:rPr>
              <a:t>context.Claims.Where</a:t>
            </a:r>
            <a:r>
              <a:rPr lang="en-GB" dirty="0">
                <a:ea typeface="+mj-lt"/>
                <a:cs typeface="+mj-lt"/>
              </a:rPr>
              <a:t>(c =&gt; </a:t>
            </a:r>
            <a:r>
              <a:rPr lang="en-GB" dirty="0" err="1">
                <a:ea typeface="+mj-lt"/>
                <a:cs typeface="+mj-lt"/>
              </a:rPr>
              <a:t>c.LecturerID</a:t>
            </a:r>
            <a:r>
              <a:rPr lang="en-GB" dirty="0">
                <a:ea typeface="+mj-lt"/>
                <a:cs typeface="+mj-lt"/>
              </a:rPr>
              <a:t> == </a:t>
            </a:r>
            <a:r>
              <a:rPr lang="en-GB" dirty="0" err="1">
                <a:ea typeface="+mj-lt"/>
                <a:cs typeface="+mj-lt"/>
              </a:rPr>
              <a:t>lecturer.LecturerID</a:t>
            </a:r>
            <a:r>
              <a:rPr lang="en-GB" dirty="0">
                <a:ea typeface="+mj-lt"/>
                <a:cs typeface="+mj-lt"/>
              </a:rPr>
              <a:t>).Include(c =&gt; </a:t>
            </a:r>
            <a:r>
              <a:rPr lang="en-GB" dirty="0" err="1">
                <a:ea typeface="+mj-lt"/>
                <a:cs typeface="+mj-lt"/>
              </a:rPr>
              <a:t>c.Lecturer</a:t>
            </a:r>
            <a:r>
              <a:rPr lang="en-GB" dirty="0">
                <a:ea typeface="+mj-lt"/>
                <a:cs typeface="+mj-lt"/>
              </a:rPr>
              <a:t>).Include(c =&gt; </a:t>
            </a:r>
            <a:r>
              <a:rPr lang="en-GB" dirty="0" err="1">
                <a:ea typeface="+mj-lt"/>
                <a:cs typeface="+mj-lt"/>
              </a:rPr>
              <a:t>c.Documents</a:t>
            </a:r>
            <a:r>
              <a:rPr lang="en-GB" dirty="0">
                <a:ea typeface="+mj-lt"/>
                <a:cs typeface="+mj-lt"/>
              </a:rPr>
              <a:t>).</a:t>
            </a:r>
            <a:r>
              <a:rPr lang="en-GB" dirty="0" err="1">
                <a:ea typeface="+mj-lt"/>
                <a:cs typeface="+mj-lt"/>
              </a:rPr>
              <a:t>ToListAsync</a:t>
            </a:r>
            <a:r>
              <a:rPr lang="en-GB" dirty="0">
                <a:ea typeface="+mj-lt"/>
                <a:cs typeface="+mj-lt"/>
              </a:rPr>
              <a:t>();</a:t>
            </a:r>
          </a:p>
          <a:p>
            <a:pPr>
              <a:buClr>
                <a:srgbClr val="8AD0D6"/>
              </a:buClr>
            </a:pPr>
            <a:r>
              <a:rPr lang="en-GB" dirty="0"/>
              <a:t>Retrieves claims data for specified </a:t>
            </a:r>
            <a:r>
              <a:rPr lang="en-GB" dirty="0" err="1"/>
              <a:t>lectuer</a:t>
            </a:r>
            <a:r>
              <a:rPr lang="en-GB" dirty="0"/>
              <a:t> via </a:t>
            </a:r>
            <a:r>
              <a:rPr lang="en-GB" dirty="0" err="1"/>
              <a:t>lecturerID</a:t>
            </a:r>
          </a:p>
          <a:p>
            <a:pPr>
              <a:buClr>
                <a:srgbClr val="8AD0D6"/>
              </a:buClr>
            </a:pPr>
            <a:endParaRPr lang="en-GB" dirty="0"/>
          </a:p>
          <a:p>
            <a:pPr>
              <a:buClr>
                <a:srgbClr val="8AD0D6"/>
              </a:buClr>
            </a:pPr>
            <a:r>
              <a:rPr lang="en-GB" dirty="0"/>
              <a:t>8. Returns webpage to see</a:t>
            </a:r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return View(claims);</a:t>
            </a:r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Returns the webpage (view) to display the list of claims.</a:t>
            </a:r>
            <a:endParaRPr lang="en-GB" dirty="0"/>
          </a:p>
          <a:p>
            <a:pPr>
              <a:buClr>
                <a:srgbClr val="8AD0D6"/>
              </a:buClr>
            </a:pPr>
            <a:endParaRPr lang="en-GB" dirty="0"/>
          </a:p>
          <a:p>
            <a:pPr>
              <a:buClr>
                <a:srgbClr val="8AD0D6"/>
              </a:buClr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8516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467D7-6470-3E3D-40EF-DFEFE9E1A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Claim: Step-by-Step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C64B4-978A-2911-E1EB-CCCC57873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9. </a:t>
            </a:r>
            <a:r>
              <a:rPr lang="en-GB" dirty="0">
                <a:ea typeface="+mj-lt"/>
                <a:cs typeface="+mj-lt"/>
              </a:rPr>
              <a:t>Catches any exception that happens in try block</a:t>
            </a:r>
            <a:endParaRPr lang="en-US" dirty="0">
              <a:ea typeface="+mj-lt"/>
              <a:cs typeface="+mj-lt"/>
            </a:endParaRPr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catch (Exception ex)</a:t>
            </a:r>
            <a:endParaRPr lang="en-US"/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{</a:t>
            </a:r>
            <a:endParaRPr lang="en-GB"/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     </a:t>
            </a:r>
            <a:r>
              <a:rPr lang="en-GB" dirty="0" err="1">
                <a:ea typeface="+mj-lt"/>
                <a:cs typeface="+mj-lt"/>
              </a:rPr>
              <a:t>Console.WriteLine</a:t>
            </a:r>
            <a:r>
              <a:rPr lang="en-GB" dirty="0">
                <a:ea typeface="+mj-lt"/>
                <a:cs typeface="+mj-lt"/>
              </a:rPr>
              <a:t>($"Error loading claims: {</a:t>
            </a:r>
            <a:r>
              <a:rPr lang="en-GB" dirty="0" err="1">
                <a:ea typeface="+mj-lt"/>
                <a:cs typeface="+mj-lt"/>
              </a:rPr>
              <a:t>ex.Message</a:t>
            </a:r>
            <a:r>
              <a:rPr lang="en-GB" dirty="0">
                <a:ea typeface="+mj-lt"/>
                <a:cs typeface="+mj-lt"/>
              </a:rPr>
              <a:t>}");</a:t>
            </a:r>
            <a:endParaRPr lang="en-GB"/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     </a:t>
            </a:r>
            <a:r>
              <a:rPr lang="en-GB" dirty="0" err="1">
                <a:ea typeface="+mj-lt"/>
                <a:cs typeface="+mj-lt"/>
              </a:rPr>
              <a:t>ViewBag.ErrorMessage</a:t>
            </a:r>
            <a:r>
              <a:rPr lang="en-GB" dirty="0">
                <a:ea typeface="+mj-lt"/>
                <a:cs typeface="+mj-lt"/>
              </a:rPr>
              <a:t> = "An error occurred while loading your claims.";</a:t>
            </a:r>
            <a:endParaRPr lang="en-GB"/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     return View("Error");</a:t>
            </a:r>
            <a:endParaRPr lang="en-GB"/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}</a:t>
            </a:r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If anything goes wrong within the try block, it will show an error page with a message and a log error for debugging.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5681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8DD529-A1C5-4C1D-569A-D50DDCCB4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r="7109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35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Freeform: Shape 22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BF148-8452-B0D6-D215-D059B750E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1040760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EBEBEB"/>
                </a:solidFill>
              </a:rPr>
              <a:t>Demo Accounts to use</a:t>
            </a:r>
          </a:p>
        </p:txBody>
      </p:sp>
    </p:spTree>
    <p:extLst>
      <p:ext uri="{BB962C8B-B14F-4D97-AF65-F5344CB8AC3E}">
        <p14:creationId xmlns:p14="http://schemas.microsoft.com/office/powerpoint/2010/main" val="279236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51DE7-1E36-A87A-210E-4C85E1B81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0623" y="1447800"/>
            <a:ext cx="3333676" cy="309698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/>
              <a:t>Feature Explanation: Login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484F10F-334C-431A-8E30-B66B496C5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75977" y="-475977"/>
            <a:ext cx="6858000" cy="7809953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pic>
        <p:nvPicPr>
          <p:cNvPr id="6" name="Content Placeholder 5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FBC580B2-BC04-0FB7-8E33-64DD604846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rcRect l="-69" t="8397" b="9802"/>
          <a:stretch>
            <a:fillRect/>
          </a:stretch>
        </p:blipFill>
        <p:spPr>
          <a:xfrm>
            <a:off x="643854" y="676327"/>
            <a:ext cx="6270662" cy="2601409"/>
          </a:xfrm>
          <a:prstGeom prst="rect">
            <a:avLst/>
          </a:prstGeom>
          <a:effectLst/>
        </p:spPr>
      </p:pic>
      <p:sp>
        <p:nvSpPr>
          <p:cNvPr id="25" name="Freeform 31">
            <a:extLst>
              <a:ext uri="{FF2B5EF4-FFF2-40B4-BE49-F238E27FC236}">
                <a16:creationId xmlns:a16="http://schemas.microsoft.com/office/drawing/2014/main" id="{AEA0BB24-2B23-4B19-996F-58DA607EE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B91CE8-9B97-9C6C-159E-82459A240A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8"/>
          <a:stretch/>
        </p:blipFill>
        <p:spPr>
          <a:xfrm>
            <a:off x="965781" y="3501360"/>
            <a:ext cx="5626807" cy="265866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147489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EA12C0-E9C4-6D99-32ED-44E1972AD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Feature Explanation: Login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5" name="Content Placeholder 4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2DFAB063-E20B-1ECB-9692-20A4B5F88F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6"/>
          <a:srcRect t="5000" b="19183"/>
          <a:stretch>
            <a:fillRect/>
          </a:stretch>
        </p:blipFill>
        <p:spPr>
          <a:xfrm>
            <a:off x="6093992" y="2380518"/>
            <a:ext cx="5449889" cy="2096960"/>
          </a:xfrm>
          <a:prstGeom prst="rect">
            <a:avLst/>
          </a:prstGeom>
          <a:effectLst/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92AAF7-F20B-D781-3F36-6BAC943DB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931" y="2438400"/>
            <a:ext cx="4166509" cy="37854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Feature : login </a:t>
            </a:r>
          </a:p>
          <a:p>
            <a:r>
              <a:rPr lang="en-US" dirty="0">
                <a:solidFill>
                  <a:srgbClr val="EBEBEB"/>
                </a:solidFill>
              </a:rPr>
              <a:t>Purpose: </a:t>
            </a:r>
          </a:p>
          <a:p>
            <a:pPr>
              <a:buClr>
                <a:srgbClr val="F7F7F7"/>
              </a:buClr>
            </a:pPr>
            <a:r>
              <a:rPr lang="en-US" dirty="0">
                <a:solidFill>
                  <a:srgbClr val="EBEBEB"/>
                </a:solidFill>
              </a:rPr>
              <a:t>To Identify the User</a:t>
            </a:r>
          </a:p>
          <a:p>
            <a:pPr>
              <a:buClr>
                <a:srgbClr val="F7F7F7"/>
              </a:buClr>
            </a:pPr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Login confirms who you are by checking your: Email/Username and Password</a:t>
            </a:r>
            <a:endParaRPr lang="en-US" dirty="0"/>
          </a:p>
          <a:p>
            <a:pPr>
              <a:buClr>
                <a:srgbClr val="F7F7F7"/>
              </a:buClr>
            </a:pPr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This ensures the system is dealing with the correct person .</a:t>
            </a:r>
            <a:endParaRPr lang="en-US" dirty="0"/>
          </a:p>
          <a:p>
            <a:pPr>
              <a:buClr>
                <a:srgbClr val="F7F7F7"/>
              </a:buClr>
            </a:pPr>
            <a:endParaRPr lang="en-US" dirty="0">
              <a:solidFill>
                <a:srgbClr val="EBEBEB"/>
              </a:solidFill>
            </a:endParaRPr>
          </a:p>
          <a:p>
            <a:endParaRPr lang="en-US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339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84BD4F69-7BA8-8D67-6918-87B93B47B0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t="8494" r="-1" b="-1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47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8" name="Freeform: Shape 23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5C04BD-190C-8296-F6CC-1202B568A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782460"/>
            <a:ext cx="10479488" cy="14431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EBEBEB"/>
                </a:solidFill>
              </a:rPr>
              <a:t>Feature Explanation: Login</a:t>
            </a:r>
          </a:p>
          <a:p>
            <a:endParaRPr lang="en-US" sz="4800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271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213F-D403-EE58-3B98-30248F406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Explanation: Lecturer View</a:t>
            </a:r>
            <a:br>
              <a:rPr lang="en-US" dirty="0"/>
            </a:br>
            <a:r>
              <a:rPr lang="en-US" err="1"/>
              <a:t>CreateClaim</a:t>
            </a:r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A8BE81-A9D2-BF8E-F5D4-133D7765EA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3312" y="2054695"/>
            <a:ext cx="4396339" cy="419314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2F856-310D-1F70-D24C-FDDC0C8997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dirty="0"/>
              <a:t>Function:</a:t>
            </a:r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/>
              <a:t>Auto-Populate Lecturer Claim Details</a:t>
            </a:r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When a lecturer creates a new claim, the system automatically fills in the following information:</a:t>
            </a:r>
            <a:endParaRPr lang="en-GB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Lecturer Name, Department, Submission Date, Hourly Rate</a:t>
            </a:r>
            <a:endParaRPr lang="en-GB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The lecturer is only required to provide:</a:t>
            </a:r>
            <a:endParaRPr lang="en-GB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Hours Worked</a:t>
            </a:r>
            <a:endParaRPr lang="en-GB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Comments</a:t>
            </a:r>
            <a:endParaRPr lang="en-GB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Uploaded Documents</a:t>
            </a:r>
            <a:endParaRPr lang="en-GB" dirty="0"/>
          </a:p>
          <a:p>
            <a:pPr>
              <a:buClr>
                <a:srgbClr val="8AD0D6"/>
              </a:buClr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5488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F310F1-C91A-C733-1F68-730419ED7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279" y="1325880"/>
            <a:ext cx="3344020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Feature Explanation: Lecturer View</a:t>
            </a:r>
            <a:br>
              <a:rPr lang="en-US" sz="3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r>
              <a:rPr lang="en-US" sz="3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CreateClaim</a:t>
            </a:r>
          </a:p>
        </p:txBody>
      </p:sp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4CA77C-0695-61CA-34A6-AE8554243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55392" y="1823478"/>
            <a:ext cx="6275584" cy="321623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185776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1E7E5-BEA9-B8E1-8C6C-676C7CD4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Explanation: Lecturer View</a:t>
            </a:r>
            <a:br>
              <a:rPr lang="en-US" dirty="0"/>
            </a:br>
            <a:r>
              <a:rPr lang="en-US" dirty="0"/>
              <a:t>Claims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9848D9-1DF8-6816-DB5B-45B82842EA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3312" y="2258498"/>
            <a:ext cx="4396339" cy="381429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64352-CBC3-D161-F8B5-C5D335BA2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1711036"/>
            <a:ext cx="5618416" cy="454530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1400" dirty="0"/>
              <a:t>Function: </a:t>
            </a:r>
          </a:p>
          <a:p>
            <a:pPr>
              <a:buClr>
                <a:srgbClr val="8AD0D6"/>
              </a:buClr>
            </a:pPr>
            <a:r>
              <a:rPr lang="en-GB" sz="1400" dirty="0"/>
              <a:t>Lecturer Claim Tracking Page</a:t>
            </a:r>
          </a:p>
          <a:p>
            <a:pPr>
              <a:buClr>
                <a:srgbClr val="8AD0D6"/>
              </a:buClr>
            </a:pPr>
            <a:r>
              <a:rPr lang="en-GB" sz="1400" dirty="0">
                <a:ea typeface="+mj-lt"/>
                <a:cs typeface="+mj-lt"/>
              </a:rPr>
              <a:t>This view page allows a logged-in lecturer to track and monitor the status of all their submitted claims. Each claim displays its current stage in the workflow, using the following statuses:</a:t>
            </a:r>
          </a:p>
          <a:p>
            <a:pPr>
              <a:buClr>
                <a:srgbClr val="8AD0D6"/>
              </a:buClr>
            </a:pPr>
            <a:r>
              <a:rPr lang="en-GB" sz="1400" dirty="0">
                <a:ea typeface="+mj-lt"/>
                <a:cs typeface="+mj-lt"/>
              </a:rPr>
              <a:t>Submitted – Claim has been created and sent for review</a:t>
            </a:r>
          </a:p>
          <a:p>
            <a:pPr>
              <a:buClr>
                <a:srgbClr val="8AD0D6"/>
              </a:buClr>
            </a:pPr>
            <a:r>
              <a:rPr lang="en-GB" sz="1400" dirty="0">
                <a:ea typeface="+mj-lt"/>
                <a:cs typeface="+mj-lt"/>
              </a:rPr>
              <a:t>Verified – Claim has been checked and confirmed by Coordinators</a:t>
            </a:r>
          </a:p>
          <a:p>
            <a:pPr>
              <a:buClr>
                <a:srgbClr val="8AD0D6"/>
              </a:buClr>
            </a:pPr>
            <a:r>
              <a:rPr lang="en-GB" sz="1400" dirty="0">
                <a:ea typeface="+mj-lt"/>
                <a:cs typeface="+mj-lt"/>
              </a:rPr>
              <a:t>Rejected – Claim did not pass the verification stage</a:t>
            </a:r>
          </a:p>
          <a:p>
            <a:pPr>
              <a:buClr>
                <a:srgbClr val="8AD0D6"/>
              </a:buClr>
            </a:pPr>
            <a:r>
              <a:rPr lang="en-GB" sz="1400" dirty="0">
                <a:ea typeface="+mj-lt"/>
                <a:cs typeface="+mj-lt"/>
              </a:rPr>
              <a:t>Approved – Claim has been approved for payment by Manager</a:t>
            </a:r>
          </a:p>
          <a:p>
            <a:pPr>
              <a:buClr>
                <a:srgbClr val="8AD0D6"/>
              </a:buClr>
            </a:pPr>
            <a:r>
              <a:rPr lang="en-GB" sz="1400" dirty="0">
                <a:ea typeface="+mj-lt"/>
                <a:cs typeface="+mj-lt"/>
              </a:rPr>
              <a:t>Declined – Claim has been reviewed but not approved</a:t>
            </a:r>
          </a:p>
          <a:p>
            <a:pPr>
              <a:buClr>
                <a:srgbClr val="8AD0D6"/>
              </a:buClr>
            </a:pPr>
            <a:r>
              <a:rPr lang="en-GB" sz="1400" dirty="0">
                <a:ea typeface="+mj-lt"/>
                <a:cs typeface="+mj-lt"/>
              </a:rPr>
              <a:t>Lecturers can monitor the status of their claims through the available status options in the claims system. This provides a clear and organized overview of their claim progress at every step.</a:t>
            </a:r>
          </a:p>
        </p:txBody>
      </p:sp>
    </p:spTree>
    <p:extLst>
      <p:ext uri="{BB962C8B-B14F-4D97-AF65-F5344CB8AC3E}">
        <p14:creationId xmlns:p14="http://schemas.microsoft.com/office/powerpoint/2010/main" val="2462091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D133BB-4A3A-10CB-0820-606EE1D77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r="-1" b="20043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36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Freeform: Shape 23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46D8F-8AC1-8D4E-0B8A-65C05FA4B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782460"/>
            <a:ext cx="10479488" cy="134247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 dirty="0">
                <a:solidFill>
                  <a:srgbClr val="EBEBEB"/>
                </a:solidFill>
              </a:rPr>
              <a:t>Feature Explanation: Lecturer View</a:t>
            </a:r>
            <a:br>
              <a:rPr lang="en-US" sz="2600">
                <a:solidFill>
                  <a:srgbClr val="EBEBEB"/>
                </a:solidFill>
              </a:rPr>
            </a:br>
            <a:r>
              <a:rPr lang="en-US" sz="2600" dirty="0">
                <a:solidFill>
                  <a:srgbClr val="EBEBEB"/>
                </a:solidFill>
              </a:rPr>
              <a:t>Claims</a:t>
            </a:r>
          </a:p>
          <a:p>
            <a:pPr>
              <a:lnSpc>
                <a:spcPct val="90000"/>
              </a:lnSpc>
            </a:pPr>
            <a:endParaRPr lang="en-US" sz="2600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117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85006-CDDE-EBDA-FDA3-7A2D5D40E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728932"/>
            <a:ext cx="3108626" cy="99905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Feature Explanation: Verification View</a:t>
            </a:r>
            <a:br>
              <a:rPr lang="en-US" sz="22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</a:br>
            <a:endParaRPr lang="en-US" sz="2200" b="0" i="0" kern="120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Freeform: Shape 25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4747655" y="-586345"/>
            <a:ext cx="6858001" cy="8030691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00C5F-11CA-B462-2986-D0E485A71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082" y="2008461"/>
            <a:ext cx="3453113" cy="447141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400" dirty="0">
                <a:solidFill>
                  <a:srgbClr val="FFFFFF"/>
                </a:solidFill>
              </a:rPr>
              <a:t>Function: </a:t>
            </a:r>
            <a:r>
              <a:rPr lang="en-US" sz="1600" dirty="0">
                <a:solidFill>
                  <a:schemeClr val="bg1"/>
                </a:solidFill>
              </a:rPr>
              <a:t>Automatic Verification Page for Coordinators</a:t>
            </a:r>
            <a:endParaRPr lang="en-US" sz="1600">
              <a:solidFill>
                <a:schemeClr val="bg1"/>
              </a:solidFill>
            </a:endParaRPr>
          </a:p>
          <a:p>
            <a:pPr>
              <a:buClr>
                <a:srgbClr val="F7F7F7"/>
              </a:buClr>
            </a:pPr>
            <a:r>
              <a:rPr lang="en-US" sz="1400" dirty="0">
                <a:solidFill>
                  <a:srgbClr val="FFFFFF"/>
                </a:solidFill>
                <a:ea typeface="+mj-lt"/>
                <a:cs typeface="+mj-lt"/>
              </a:rPr>
              <a:t>A dedicated verification page is provided for coordinators, allowing claims to be reviewed automatically based on predefined guidelines.</a:t>
            </a:r>
            <a:endParaRPr lang="en-US" dirty="0">
              <a:ea typeface="+mj-lt"/>
              <a:cs typeface="+mj-lt"/>
            </a:endParaRPr>
          </a:p>
          <a:p>
            <a:pPr>
              <a:buClr>
                <a:srgbClr val="F7F7F7"/>
              </a:buClr>
            </a:pPr>
            <a:r>
              <a:rPr lang="en-US" sz="1400" dirty="0">
                <a:solidFill>
                  <a:srgbClr val="FFFFFF"/>
                </a:solidFill>
                <a:ea typeface="+mj-lt"/>
                <a:cs typeface="+mj-lt"/>
              </a:rPr>
              <a:t>If a claim meets all guideline requirements, it is </a:t>
            </a:r>
            <a:r>
              <a:rPr lang="en-US" sz="1400" b="1" dirty="0">
                <a:solidFill>
                  <a:srgbClr val="FFFFFF"/>
                </a:solidFill>
                <a:ea typeface="+mj-lt"/>
                <a:cs typeface="+mj-lt"/>
              </a:rPr>
              <a:t>automatically verified</a:t>
            </a:r>
            <a:r>
              <a:rPr lang="en-US" sz="1400" dirty="0">
                <a:solidFill>
                  <a:srgbClr val="FFFFFF"/>
                </a:solidFill>
                <a:ea typeface="+mj-lt"/>
                <a:cs typeface="+mj-lt"/>
              </a:rPr>
              <a:t>.</a:t>
            </a:r>
            <a:endParaRPr lang="en-US" dirty="0">
              <a:ea typeface="+mj-lt"/>
              <a:cs typeface="+mj-lt"/>
            </a:endParaRPr>
          </a:p>
          <a:p>
            <a:pPr>
              <a:buClr>
                <a:srgbClr val="F7F7F7"/>
              </a:buClr>
            </a:pPr>
            <a:r>
              <a:rPr lang="en-US" sz="1400" dirty="0">
                <a:solidFill>
                  <a:srgbClr val="FFFFFF"/>
                </a:solidFill>
                <a:ea typeface="+mj-lt"/>
                <a:cs typeface="+mj-lt"/>
              </a:rPr>
              <a:t>If a claim fails to meet the guidelines, it is </a:t>
            </a:r>
            <a:r>
              <a:rPr lang="en-US" sz="1400" b="1" dirty="0">
                <a:solidFill>
                  <a:srgbClr val="FFFFFF"/>
                </a:solidFill>
                <a:ea typeface="+mj-lt"/>
                <a:cs typeface="+mj-lt"/>
              </a:rPr>
              <a:t>automatically rejected</a:t>
            </a:r>
            <a:r>
              <a:rPr lang="en-US" sz="1400" dirty="0">
                <a:solidFill>
                  <a:srgbClr val="FFFFFF"/>
                </a:solidFill>
                <a:ea typeface="+mj-lt"/>
                <a:cs typeface="+mj-lt"/>
              </a:rPr>
              <a:t>.</a:t>
            </a:r>
            <a:endParaRPr lang="en-US" dirty="0"/>
          </a:p>
          <a:p>
            <a:pPr>
              <a:buClr>
                <a:srgbClr val="F7F7F7"/>
              </a:buClr>
            </a:pPr>
            <a:r>
              <a:rPr lang="en-US" sz="1400" dirty="0">
                <a:solidFill>
                  <a:srgbClr val="FFFFFF"/>
                </a:solidFill>
                <a:ea typeface="+mj-lt"/>
                <a:cs typeface="+mj-lt"/>
              </a:rPr>
              <a:t>Coordinators also have the ability to </a:t>
            </a:r>
            <a:r>
              <a:rPr lang="en-US" sz="1400" b="1" dirty="0">
                <a:solidFill>
                  <a:srgbClr val="FFFFFF"/>
                </a:solidFill>
                <a:ea typeface="+mj-lt"/>
                <a:cs typeface="+mj-lt"/>
              </a:rPr>
              <a:t>manually review rejected claims</a:t>
            </a:r>
            <a:r>
              <a:rPr lang="en-US" sz="1400" dirty="0">
                <a:solidFill>
                  <a:srgbClr val="FFFFFF"/>
                </a:solidFill>
                <a:ea typeface="+mj-lt"/>
                <a:cs typeface="+mj-lt"/>
              </a:rPr>
              <a:t>, giving them the option to either verify the claim or keep it rejected.</a:t>
            </a:r>
            <a:endParaRPr lang="en-US" dirty="0"/>
          </a:p>
          <a:p>
            <a:pPr>
              <a:buClr>
                <a:srgbClr val="F7F7F7"/>
              </a:buClr>
            </a:pPr>
            <a:endParaRPr lang="en-US" sz="1400" dirty="0">
              <a:solidFill>
                <a:srgbClr val="FFFFFF"/>
              </a:solidFill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B997F2-7206-B676-BA53-2862A3BCEA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6"/>
          <a:stretch>
            <a:fillRect/>
          </a:stretch>
        </p:blipFill>
        <p:spPr>
          <a:xfrm>
            <a:off x="5048451" y="2004280"/>
            <a:ext cx="6495847" cy="345903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16253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A787B5-B381-05CD-3EAF-AF4658041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t="8310" r="-1" b="8503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22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C9A830-D498-1872-3CA1-C3B97324E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782460"/>
            <a:ext cx="10479488" cy="157251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>
                <a:solidFill>
                  <a:srgbClr val="EBEBEB"/>
                </a:solidFill>
              </a:rPr>
              <a:t>Feature Explanation: Verification View</a:t>
            </a:r>
          </a:p>
        </p:txBody>
      </p:sp>
    </p:spTree>
    <p:extLst>
      <p:ext uri="{BB962C8B-B14F-4D97-AF65-F5344CB8AC3E}">
        <p14:creationId xmlns:p14="http://schemas.microsoft.com/office/powerpoint/2010/main" val="8744386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468D24-E695-3FEC-9DE8-69BC1D051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298587"/>
            <a:ext cx="4166510" cy="155043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6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Feature Explanation: Approve View</a:t>
            </a: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7CDBD7-1367-B66A-38A4-6FEE90DBA0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6"/>
          <a:stretch>
            <a:fillRect/>
          </a:stretch>
        </p:blipFill>
        <p:spPr>
          <a:xfrm>
            <a:off x="6093992" y="2080151"/>
            <a:ext cx="5449889" cy="2697694"/>
          </a:xfrm>
          <a:prstGeom prst="rect">
            <a:avLst/>
          </a:prstGeom>
          <a:effectLst/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B276B-DD50-4AFB-BCAF-1EE1BAE41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931" y="1848929"/>
            <a:ext cx="4166509" cy="470556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Clr>
                <a:srgbClr val="F7F7F7"/>
              </a:buClr>
            </a:pPr>
            <a:r>
              <a:rPr lang="en-US" b="1" dirty="0">
                <a:solidFill>
                  <a:schemeClr val="bg1"/>
                </a:solidFill>
              </a:rPr>
              <a:t>Function: Automatic Approval Page for Managers</a:t>
            </a:r>
            <a:endParaRPr lang="en-US">
              <a:solidFill>
                <a:schemeClr val="bg1"/>
              </a:solidFill>
            </a:endParaRPr>
          </a:p>
          <a:p>
            <a:pPr>
              <a:buClr>
                <a:srgbClr val="F7F7F7"/>
              </a:buClr>
            </a:pPr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The system provides an automatic approval page for managers, where claims are evaluated based on predefined guidelines.</a:t>
            </a:r>
            <a:endParaRPr lang="en-US" dirty="0">
              <a:ea typeface="+mj-lt"/>
              <a:cs typeface="+mj-lt"/>
            </a:endParaRPr>
          </a:p>
          <a:p>
            <a:pPr>
              <a:buClr>
                <a:srgbClr val="F7F7F7"/>
              </a:buClr>
            </a:pPr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If a claim meets all guideline requirements, it is </a:t>
            </a:r>
            <a:r>
              <a:rPr lang="en-US" b="1" dirty="0">
                <a:solidFill>
                  <a:srgbClr val="EBEBEB"/>
                </a:solidFill>
                <a:ea typeface="+mj-lt"/>
                <a:cs typeface="+mj-lt"/>
              </a:rPr>
              <a:t>automatically approved</a:t>
            </a:r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.</a:t>
            </a:r>
            <a:endParaRPr lang="en-US" dirty="0"/>
          </a:p>
          <a:p>
            <a:pPr>
              <a:buClr>
                <a:srgbClr val="F7F7F7"/>
              </a:buClr>
            </a:pPr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If a claim does not meet the guidelines, it is </a:t>
            </a:r>
            <a:r>
              <a:rPr lang="en-US" b="1" dirty="0">
                <a:solidFill>
                  <a:srgbClr val="EBEBEB"/>
                </a:solidFill>
                <a:ea typeface="+mj-lt"/>
                <a:cs typeface="+mj-lt"/>
              </a:rPr>
              <a:t>automatically declined</a:t>
            </a:r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.</a:t>
            </a:r>
            <a:endParaRPr lang="en-US" dirty="0">
              <a:ea typeface="+mj-lt"/>
              <a:cs typeface="+mj-lt"/>
            </a:endParaRPr>
          </a:p>
          <a:p>
            <a:pPr>
              <a:buClr>
                <a:srgbClr val="F7F7F7"/>
              </a:buClr>
            </a:pPr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Managers also have the option to </a:t>
            </a:r>
            <a:r>
              <a:rPr lang="en-US" b="1" dirty="0">
                <a:solidFill>
                  <a:srgbClr val="EBEBEB"/>
                </a:solidFill>
                <a:ea typeface="+mj-lt"/>
                <a:cs typeface="+mj-lt"/>
              </a:rPr>
              <a:t>manually review declined claims</a:t>
            </a:r>
            <a:r>
              <a:rPr lang="en-US" dirty="0">
                <a:solidFill>
                  <a:srgbClr val="EBEBEB"/>
                </a:solidFill>
                <a:ea typeface="+mj-lt"/>
                <a:cs typeface="+mj-lt"/>
              </a:rPr>
              <a:t>, allowing them to either approve the claim or keep it declined.</a:t>
            </a:r>
            <a:endParaRPr lang="en-US" dirty="0">
              <a:ea typeface="+mj-lt"/>
              <a:cs typeface="+mj-lt"/>
            </a:endParaRPr>
          </a:p>
          <a:p>
            <a:pPr>
              <a:buClr>
                <a:srgbClr val="F7F7F7"/>
              </a:buClr>
            </a:pPr>
            <a:endParaRPr lang="en-US" dirty="0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482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85" name="Oval 8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D27CF008-4B18-436D-B2D5-C1346C124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E22DAD8-5F67-4B73-ADA9-06EF381F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1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9BBDF8-D24A-1B9D-9231-A989563CF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635458" y="640081"/>
            <a:ext cx="6650191" cy="3291844"/>
          </a:xfrm>
          <a:prstGeom prst="rect">
            <a:avLst/>
          </a:prstGeom>
          <a:effectLst/>
        </p:spPr>
      </p:pic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38257F-F300-AB5D-D801-5E8A88FD4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9149350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Feature Explanation: Approve View</a:t>
            </a:r>
          </a:p>
        </p:txBody>
      </p:sp>
    </p:spTree>
    <p:extLst>
      <p:ext uri="{BB962C8B-B14F-4D97-AF65-F5344CB8AC3E}">
        <p14:creationId xmlns:p14="http://schemas.microsoft.com/office/powerpoint/2010/main" val="2398269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7589C-33C6-F60E-72D8-4F0D0B2E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Explanation: Human Resource View</a:t>
            </a:r>
            <a:endParaRPr lang="en-GB" dirty="0">
              <a:solidFill>
                <a:srgbClr val="000000"/>
              </a:solidFill>
            </a:endParaRPr>
          </a:p>
          <a:p>
            <a:endParaRPr lang="en-GB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39F3D1-DF9E-A79F-EEEB-6CA0D3237B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8191" y="2052918"/>
            <a:ext cx="8496783" cy="41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949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385E-B856-23BA-0719-8A7BB79E9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Explanation: Human Resource View Dashboard</a:t>
            </a:r>
            <a:endParaRPr lang="en-GB" dirty="0">
              <a:solidFill>
                <a:srgbClr val="000000"/>
              </a:solidFill>
            </a:endParaRPr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3CB32-5803-B78F-8D77-50EC91803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b="1" dirty="0"/>
              <a:t>Function: User-Friendly Dashboard for Human Resource Users</a:t>
            </a:r>
            <a:endParaRPr lang="en-US" b="1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A user-friendly dashboard is provided for Human Resource role users, </a:t>
            </a:r>
            <a:r>
              <a:rPr lang="en-GB">
                <a:ea typeface="+mj-lt"/>
                <a:cs typeface="+mj-lt"/>
              </a:rPr>
              <a:t>offering clear and easy navigation throughout the </a:t>
            </a:r>
            <a:r>
              <a:rPr lang="en-GB" dirty="0">
                <a:ea typeface="+mj-lt"/>
                <a:cs typeface="+mj-lt"/>
              </a:rPr>
              <a:t>system.</a:t>
            </a:r>
            <a:endParaRPr lang="en-GB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The dashboard includes the following features:</a:t>
            </a:r>
            <a:endParaRPr lang="en-GB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Generate CSV Report – Allows users to export a brief summary of all claims and the number of users who have submitted claims.</a:t>
            </a:r>
            <a:endParaRPr lang="en-GB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Create Employee Button – Enables HR users to easily add new employees to the system.</a:t>
            </a:r>
            <a:endParaRPr lang="en-GB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List Employees Button – Provides quick access to a complete list of existing employees.</a:t>
            </a:r>
            <a:endParaRPr lang="en-GB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This ensures HR users can efficiently manage staff information and monitor claim activity.</a:t>
            </a:r>
            <a:endParaRPr lang="en-GB" dirty="0"/>
          </a:p>
          <a:p>
            <a:pPr>
              <a:buClr>
                <a:srgbClr val="8AD0D6"/>
              </a:buClr>
            </a:pPr>
            <a:endParaRPr lang="en-GB" dirty="0"/>
          </a:p>
          <a:p>
            <a:pPr>
              <a:buClr>
                <a:srgbClr val="8AD0D6"/>
              </a:buClr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4124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D39869-D90F-C069-2261-46B4AF1EE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t="15016" r="-1" b="3038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23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4E3BC-4081-A1FF-56BD-23E4C02B3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1040760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>
                <a:solidFill>
                  <a:srgbClr val="EBEBEB"/>
                </a:solidFill>
              </a:rPr>
              <a:t>Feature Explanation: Human Resource View AddEmployee</a:t>
            </a:r>
          </a:p>
        </p:txBody>
      </p:sp>
    </p:spTree>
    <p:extLst>
      <p:ext uri="{BB962C8B-B14F-4D97-AF65-F5344CB8AC3E}">
        <p14:creationId xmlns:p14="http://schemas.microsoft.com/office/powerpoint/2010/main" val="2500177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C787-9F9A-A814-C95B-21508C59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Explanation: Human Resource View </a:t>
            </a:r>
            <a:r>
              <a:rPr lang="en-US" dirty="0" err="1"/>
              <a:t>AddEmployee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AC132-B8F9-F7BC-C153-6233DBC35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b="1" dirty="0"/>
              <a:t>Function: HR User Employee Management</a:t>
            </a:r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Human Resource users can add new employees to the Claim System based on predefined employee roles.</a:t>
            </a:r>
            <a:endParaRPr lang="en-GB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The four roles that HR can assign when creating an employee are:</a:t>
            </a:r>
            <a:endParaRPr lang="en-GB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Lecturer</a:t>
            </a:r>
            <a:endParaRPr lang="en-GB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Manager</a:t>
            </a:r>
            <a:endParaRPr lang="en-GB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Coordinator</a:t>
            </a:r>
            <a:endParaRPr lang="en-GB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 err="1">
                <a:ea typeface="+mj-lt"/>
                <a:cs typeface="+mj-lt"/>
              </a:rPr>
              <a:t>HumanResource</a:t>
            </a:r>
            <a:endParaRPr lang="en-GB" dirty="0" err="1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Only users with the </a:t>
            </a:r>
            <a:r>
              <a:rPr lang="en-GB" dirty="0" err="1">
                <a:ea typeface="+mj-lt"/>
                <a:cs typeface="+mj-lt"/>
              </a:rPr>
              <a:t>HumanResource</a:t>
            </a:r>
            <a:r>
              <a:rPr lang="en-GB" dirty="0">
                <a:ea typeface="+mj-lt"/>
                <a:cs typeface="+mj-lt"/>
              </a:rPr>
              <a:t> role have permission to add new employees to the system, ensuring controlled and secure employee management.</a:t>
            </a:r>
            <a:endParaRPr lang="en-GB" dirty="0"/>
          </a:p>
          <a:p>
            <a:pPr>
              <a:buClr>
                <a:srgbClr val="8AD0D6"/>
              </a:buClr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9368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FFEB68-EF08-DFCE-DF8B-77E7502DC0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 r="-1" b="17644"/>
          <a:stretch>
            <a:fillRect/>
          </a:stretch>
        </p:blipFill>
        <p:spPr>
          <a:xfrm>
            <a:off x="1" y="-5"/>
            <a:ext cx="12191695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21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0D684D-37F2-5A80-9515-4F9E00054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1040760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 dirty="0">
                <a:solidFill>
                  <a:srgbClr val="EBEBEB"/>
                </a:solidFill>
              </a:rPr>
              <a:t>Feature Explanation: Human Resource View </a:t>
            </a:r>
            <a:r>
              <a:rPr lang="en-US" sz="2600" dirty="0" err="1">
                <a:solidFill>
                  <a:srgbClr val="EBEBEB"/>
                </a:solidFill>
              </a:rPr>
              <a:t>AllEmployee</a:t>
            </a:r>
          </a:p>
        </p:txBody>
      </p:sp>
    </p:spTree>
    <p:extLst>
      <p:ext uri="{BB962C8B-B14F-4D97-AF65-F5344CB8AC3E}">
        <p14:creationId xmlns:p14="http://schemas.microsoft.com/office/powerpoint/2010/main" val="2318609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61ABE-F0B2-951A-0684-C9A1479F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1500" dirty="0">
                <a:solidFill>
                  <a:srgbClr val="000000"/>
                </a:solidFill>
              </a:rPr>
              <a:t>   </a:t>
            </a:r>
            <a:r>
              <a:rPr lang="en-US" dirty="0">
                <a:solidFill>
                  <a:srgbClr val="EBEBEB"/>
                </a:solidFill>
              </a:rPr>
              <a:t>Feature Explanation: Human Resource View </a:t>
            </a:r>
            <a:r>
              <a:rPr lang="en-US" dirty="0" err="1">
                <a:solidFill>
                  <a:srgbClr val="EBEBEB"/>
                </a:solidFill>
              </a:rPr>
              <a:t>AllEmployee</a:t>
            </a:r>
            <a:endParaRPr lang="en-GB" dirty="0" err="1">
              <a:solidFill>
                <a:srgbClr val="000000"/>
              </a:solidFill>
            </a:endParaRPr>
          </a:p>
          <a:p>
            <a:endParaRPr lang="en-GB" sz="1500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9C1C5-58E7-5A04-B21D-3BDA26FA8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/>
              <a:t>Function: HR-Only Employee Management Page</a:t>
            </a:r>
            <a:endParaRPr lang="en-GB" dirty="0"/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This view is only available to Human Resource users, displaying a complete list of all employees added to the system along with the rates they earn.</a:t>
            </a:r>
            <a:endParaRPr lang="en-GB" dirty="0"/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From this page, HR users can:</a:t>
            </a:r>
            <a:endParaRPr lang="en-GB" dirty="0"/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Update employee information – Ensure all staff details remain accurate and up to date.</a:t>
            </a:r>
            <a:endParaRPr lang="en-GB" dirty="0"/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Delete employees – Remove employees from the system when necessary.</a:t>
            </a:r>
            <a:endParaRPr lang="en-GB" dirty="0"/>
          </a:p>
          <a:p>
            <a:pPr>
              <a:buClr>
                <a:srgbClr val="8AD0D6"/>
              </a:buClr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6848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8A5D-EA2F-9177-D692-AF075DC19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Explanation: Human Resource View Summary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BAFDFE-0E1E-6375-DD16-48A9DE9576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2" y="2249928"/>
            <a:ext cx="8946541" cy="380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102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DFAB4-3A83-E9B9-1B74-24E9BE40D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Explanation: Human Resource View Summary</a:t>
            </a:r>
            <a:endParaRPr lang="en-GB" dirty="0">
              <a:solidFill>
                <a:srgbClr val="000000"/>
              </a:solidFill>
            </a:endParaRPr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6965-551F-2465-3C3F-8D679C956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/>
              <a:t>Function: HR Claims Summary Page</a:t>
            </a:r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This view is only available to Human Resource users, displaying a summary of all claims submitted by employees along with their current statuses.</a:t>
            </a:r>
            <a:endParaRPr lang="en-GB" dirty="0"/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This allows HR to easily track and monitor claim progress across the organization.</a:t>
            </a:r>
            <a:endParaRPr lang="en-GB" dirty="0"/>
          </a:p>
          <a:p>
            <a:pPr>
              <a:buClr>
                <a:srgbClr val="8AD0D6"/>
              </a:buClr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53304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256BA-0A6D-BDAF-2F31-D1A158AC6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 from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95451-2131-FB6C-1766-6BA5B21B5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ea typeface="+mj-lt"/>
                <a:cs typeface="+mj-lt"/>
              </a:rPr>
              <a:t>DocumentUpload</a:t>
            </a:r>
            <a:r>
              <a:rPr lang="en-US" dirty="0">
                <a:ea typeface="+mj-lt"/>
                <a:cs typeface="+mj-lt"/>
              </a:rPr>
              <a:t> in Claims – The Create Claim page now allows lecturers to upload supporting documents while submitting a claim.</a:t>
            </a:r>
            <a:endParaRPr lang="en-US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Role-Based Views – Certain pages and features are now restricted based on user roles </a:t>
            </a:r>
            <a:r>
              <a:rPr lang="en-US" dirty="0" err="1">
                <a:ea typeface="+mj-lt"/>
                <a:cs typeface="+mj-lt"/>
              </a:rPr>
              <a:t>e.g</a:t>
            </a:r>
            <a:r>
              <a:rPr lang="en-US" dirty="0">
                <a:ea typeface="+mj-lt"/>
                <a:cs typeface="+mj-lt"/>
              </a:rPr>
              <a:t> Lecturer and Manager to ensure proper access security.</a:t>
            </a:r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Role-Based Login – The login system has been added to work according to user roles, allowing each user to see only what they are authorized to access.</a:t>
            </a:r>
            <a:endParaRPr lang="en-US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Database Migration – The system database has been migrated from SQLite to SQL Server.</a:t>
            </a:r>
            <a:endParaRPr lang="en-US" dirty="0"/>
          </a:p>
          <a:p>
            <a:pPr>
              <a:lnSpc>
                <a:spcPct val="90000"/>
              </a:lnSpc>
              <a:buClr>
                <a:srgbClr val="8AD0D6"/>
              </a:buClr>
            </a:pPr>
            <a:r>
              <a:rPr lang="en-US" dirty="0">
                <a:ea typeface="+mj-lt"/>
                <a:cs typeface="+mj-lt"/>
              </a:rPr>
              <a:t>Identity Framework Integration – Implemented ASP.NET Identity Framework for secure authentication, role management, and user login functionality.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4641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10D9-BEBB-4DC1-65B3-565CABC5E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Lecturer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F4449-5D87-814E-F3D7-E45356ED7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j-lt"/>
                <a:cs typeface="+mj-lt"/>
              </a:rPr>
              <a:t>Based on feedback received, the following improvements were made:</a:t>
            </a:r>
            <a:endParaRPr lang="en-GB" dirty="0"/>
          </a:p>
          <a:p>
            <a:pPr>
              <a:buClr>
                <a:srgbClr val="8AD0D6"/>
              </a:buClr>
            </a:pPr>
            <a:r>
              <a:rPr lang="en-GB" dirty="0">
                <a:ea typeface="+mj-lt"/>
                <a:cs typeface="+mj-lt"/>
              </a:rPr>
              <a:t>The document upload feature was previously inaccessible. This has been resolved by adding upload functionality directly into the Create Claim process, allowing lecturers to attach supporting files while submitting claims.</a:t>
            </a:r>
            <a:endParaRPr lang="en-GB" dirty="0"/>
          </a:p>
          <a:p>
            <a:pPr>
              <a:buClr>
                <a:srgbClr val="8AD0D6"/>
              </a:buClr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88405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AE8F-2CAE-8F94-18E1-9A53C232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Challenges Encountered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D7104-ECD5-15D2-7E88-8F8BB6071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j-lt"/>
                <a:cs typeface="+mj-lt"/>
              </a:rPr>
              <a:t>Cascade Delete Conflicts</a:t>
            </a:r>
            <a:r>
              <a:rPr lang="en-US" dirty="0">
                <a:ea typeface="+mj-lt"/>
                <a:cs typeface="+mj-lt"/>
              </a:rPr>
              <a:t> – Resolved by setting </a:t>
            </a:r>
            <a:r>
              <a:rPr lang="en-US" b="1" dirty="0">
                <a:ea typeface="+mj-lt"/>
                <a:cs typeface="+mj-lt"/>
              </a:rPr>
              <a:t>ON DELETE NO ACTION</a:t>
            </a:r>
            <a:r>
              <a:rPr lang="en-US" dirty="0">
                <a:ea typeface="+mj-lt"/>
                <a:cs typeface="+mj-lt"/>
              </a:rPr>
              <a:t> to prevent multiple cascade paths in the database.</a:t>
            </a:r>
            <a:endParaRPr lang="en-US" dirty="0">
              <a:latin typeface="Consolas"/>
            </a:endParaRPr>
          </a:p>
          <a:p>
            <a:pPr>
              <a:buClr>
                <a:srgbClr val="8AD0D6"/>
              </a:buClr>
            </a:pPr>
            <a:r>
              <a:rPr lang="en-US" b="1" dirty="0">
                <a:ea typeface="+mj-lt"/>
                <a:cs typeface="+mj-lt"/>
              </a:rPr>
              <a:t>Duplicate Table Creation Errors</a:t>
            </a:r>
            <a:r>
              <a:rPr lang="en-US" dirty="0">
                <a:ea typeface="+mj-lt"/>
                <a:cs typeface="+mj-lt"/>
              </a:rPr>
              <a:t> – Fixed in </a:t>
            </a:r>
            <a:r>
              <a:rPr lang="en-US" dirty="0" err="1">
                <a:ea typeface="+mj-lt"/>
                <a:cs typeface="+mj-lt"/>
              </a:rPr>
              <a:t>SeedData</a:t>
            </a:r>
            <a:r>
              <a:rPr lang="en-US" dirty="0">
                <a:ea typeface="+mj-lt"/>
                <a:cs typeface="+mj-lt"/>
              </a:rPr>
              <a:t> to avoid creating existing tables again.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b="1" dirty="0">
                <a:ea typeface="+mj-lt"/>
                <a:cs typeface="+mj-lt"/>
              </a:rPr>
              <a:t>View Routing Across Folders</a:t>
            </a:r>
            <a:r>
              <a:rPr lang="en-US" dirty="0">
                <a:ea typeface="+mj-lt"/>
                <a:cs typeface="+mj-lt"/>
              </a:rPr>
              <a:t> – Configured proper </a:t>
            </a:r>
            <a:r>
              <a:rPr lang="en-US" b="1" dirty="0">
                <a:ea typeface="+mj-lt"/>
                <a:cs typeface="+mj-lt"/>
              </a:rPr>
              <a:t>View() paths</a:t>
            </a:r>
            <a:r>
              <a:rPr lang="en-US" dirty="0">
                <a:ea typeface="+mj-lt"/>
                <a:cs typeface="+mj-lt"/>
              </a:rPr>
              <a:t> in controllers to ensure pages render correctly.</a:t>
            </a:r>
            <a:endParaRPr lang="en-US" dirty="0"/>
          </a:p>
          <a:p>
            <a:pPr>
              <a:buClr>
                <a:srgbClr val="8AD0D6"/>
              </a:buClr>
            </a:pPr>
            <a:r>
              <a:rPr lang="en-US" b="1" dirty="0">
                <a:ea typeface="+mj-lt"/>
                <a:cs typeface="+mj-lt"/>
              </a:rPr>
              <a:t>Authentication Issues</a:t>
            </a:r>
            <a:r>
              <a:rPr lang="en-US" dirty="0">
                <a:ea typeface="+mj-lt"/>
                <a:cs typeface="+mj-lt"/>
              </a:rPr>
              <a:t> – Login functionality was currently not working and requires troubleshooting.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3382245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197F4-E76B-A4B3-E63E-E515363D2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368AB-03BD-2BED-6490-02933C7ED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Backend:</a:t>
            </a:r>
            <a:r>
              <a:rPr lang="en-US" dirty="0">
                <a:ea typeface="+mn-lt"/>
                <a:cs typeface="+mn-lt"/>
              </a:rPr>
              <a:t> ASP.NET Core MVC, C#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Frontend:</a:t>
            </a:r>
            <a:r>
              <a:rPr lang="en-US" dirty="0">
                <a:ea typeface="+mn-lt"/>
                <a:cs typeface="+mn-lt"/>
              </a:rPr>
              <a:t> Razor Views, HTML/CSS, Bootstrap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Database:</a:t>
            </a:r>
            <a:r>
              <a:rPr lang="en-US" dirty="0">
                <a:ea typeface="+mn-lt"/>
                <a:cs typeface="+mn-lt"/>
              </a:rPr>
              <a:t> SQL Server, Entity Framework Core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Tools:</a:t>
            </a:r>
            <a:r>
              <a:rPr lang="en-US" dirty="0">
                <a:ea typeface="+mn-lt"/>
                <a:cs typeface="+mn-lt"/>
              </a:rPr>
              <a:t> Visual Studio, Git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6563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BAE93-BF06-9EFA-D8B0-1D1167744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8C05F-CA83-AFB8-7E81-9D8730089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/>
              <a:t>GitHubLink</a:t>
            </a:r>
            <a:r>
              <a:rPr lang="en-US" dirty="0"/>
              <a:t>: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>
                <a:ea typeface="+mj-lt"/>
                <a:cs typeface="+mj-lt"/>
                <a:hlinkClick r:id="rId2"/>
              </a:rPr>
              <a:t>https://github.com/KgomoTokelo/PROG6212POE-PART-3-ContractMonthlyClaimsSystem.git</a:t>
            </a: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endParaRPr lang="en-US" dirty="0"/>
          </a:p>
          <a:p>
            <a:pPr>
              <a:buClr>
                <a:srgbClr val="8AD0D6"/>
              </a:buClr>
            </a:pPr>
            <a:r>
              <a:rPr lang="en-US" err="1"/>
              <a:t>YouTubeLink</a:t>
            </a:r>
            <a:r>
              <a:rPr lang="en-US"/>
              <a:t>: </a:t>
            </a:r>
            <a:r>
              <a:rPr lang="en-US" dirty="0">
                <a:ea typeface="+mj-lt"/>
                <a:cs typeface="+mj-lt"/>
                <a:hlinkClick r:id="rId3"/>
              </a:rPr>
              <a:t>https://youtu.be/TRyGntZvh-4</a:t>
            </a:r>
          </a:p>
          <a:p>
            <a:pPr>
              <a:buClr>
                <a:srgbClr val="8AD0D6"/>
              </a:buClr>
            </a:pPr>
            <a:endParaRPr lang="en-US" dirty="0"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298247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440</Words>
  <Application>Microsoft Office PowerPoint</Application>
  <PresentationFormat>Widescreen</PresentationFormat>
  <Paragraphs>54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Ion</vt:lpstr>
      <vt:lpstr>ClaimSystem Web Application</vt:lpstr>
      <vt:lpstr>ClaimSystem Web Application </vt:lpstr>
      <vt:lpstr>What is ClaimSystem?</vt:lpstr>
      <vt:lpstr>Key Features</vt:lpstr>
      <vt:lpstr>Feature Explanation: HR Summary</vt:lpstr>
      <vt:lpstr>HR Summary: Step-by-Step Breakdown</vt:lpstr>
      <vt:lpstr>HR Summary: Step-by-Step Breakdown </vt:lpstr>
      <vt:lpstr>HR Summary: Step-by-Step Breakdown</vt:lpstr>
      <vt:lpstr>Feature Explanation: Claim</vt:lpstr>
      <vt:lpstr>Claim: Step-by-Step Breakdown </vt:lpstr>
      <vt:lpstr>Claim: Step-by-Step Breakdown</vt:lpstr>
      <vt:lpstr>Claim: Step-by-Step Breakdown</vt:lpstr>
      <vt:lpstr>Claim: Step-by-Step Breakdown</vt:lpstr>
      <vt:lpstr>Claim: Step-by-Step Breakdown</vt:lpstr>
      <vt:lpstr>Demo Accounts to use</vt:lpstr>
      <vt:lpstr>Feature Explanation: Login</vt:lpstr>
      <vt:lpstr>Feature Explanation: Login</vt:lpstr>
      <vt:lpstr>Feature Explanation: Login </vt:lpstr>
      <vt:lpstr>Feature Explanation: Lecturer View CreateClaim</vt:lpstr>
      <vt:lpstr>Feature Explanation: Lecturer View CreateClaim</vt:lpstr>
      <vt:lpstr>Feature Explanation: Lecturer View Claims</vt:lpstr>
      <vt:lpstr>Feature Explanation: Lecturer View Claims </vt:lpstr>
      <vt:lpstr>Feature Explanation: Verification View </vt:lpstr>
      <vt:lpstr>Feature Explanation: Verification View</vt:lpstr>
      <vt:lpstr>Feature Explanation: Approve View</vt:lpstr>
      <vt:lpstr>Feature Explanation: Approve View</vt:lpstr>
      <vt:lpstr>Feature Explanation: Human Resource View </vt:lpstr>
      <vt:lpstr>Feature Explanation: Human Resource View Dashboard </vt:lpstr>
      <vt:lpstr>Feature Explanation: Human Resource View AddEmployee</vt:lpstr>
      <vt:lpstr>Feature Explanation: Human Resource View AddEmployee</vt:lpstr>
      <vt:lpstr>Feature Explanation: Human Resource View AllEmployee</vt:lpstr>
      <vt:lpstr>   Feature Explanation: Human Resource View AllEmployee </vt:lpstr>
      <vt:lpstr>Feature Explanation: Human Resource View Summary</vt:lpstr>
      <vt:lpstr>Feature Explanation: Human Resource View Summary </vt:lpstr>
      <vt:lpstr>Updates from Part 2</vt:lpstr>
      <vt:lpstr>Lecturer Feedback</vt:lpstr>
      <vt:lpstr>Challenges Encountered </vt:lpstr>
      <vt:lpstr>Tech Stack</vt:lpstr>
      <vt:lpstr>Links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Tokelo Kgopotso Kgomo</cp:lastModifiedBy>
  <cp:revision>738</cp:revision>
  <dcterms:created xsi:type="dcterms:W3CDTF">2025-11-21T02:47:58Z</dcterms:created>
  <dcterms:modified xsi:type="dcterms:W3CDTF">2025-11-21T17:47:41Z</dcterms:modified>
</cp:coreProperties>
</file>